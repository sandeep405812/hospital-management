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21E3E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DR. A.P.J. ABDUL KALAM TECHNICAL UNIVERSITY (AKTU), LUCKNOW • MINI-PROJECT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CareHMS: Smart Healthcare ERP &amp; Telemedicine Platform</a:t>
            </a:r>
          </a:p>
          <a:p>
            <a:pPr>
              <a:spcBef>
                <a:spcPts val="800"/>
              </a:spcBef>
              <a:defRPr sz="1800">
                <a:solidFill>
                  <a:srgbClr val="14B8A6"/>
                </a:solidFill>
              </a:defRPr>
            </a:pPr>
            <a:r>
              <a:t>With Integrated WebRTC Video Consultations &amp; Database-Backed Clinical AI Assistant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657600"/>
            <a:ext cx="9966960" cy="2011680"/>
          </a:xfrm>
          <a:prstGeom prst="roundRect">
            <a:avLst/>
          </a:prstGeom>
          <a:solidFill>
            <a:srgbClr val="0D1731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4572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0EA5E9"/>
                </a:solidFill>
              </a:defRPr>
            </a:pPr>
            <a:r>
              <a:t>SUBMITTED BY: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Name: Sandeep</a:t>
            </a:r>
            <a:br/>
            <a:r>
              <a:t>University Roll No: [Roll Number]</a:t>
            </a:r>
            <a:br/>
            <a:r>
              <a:t>Course: B.Tech Computer Science &amp; Engineering</a:t>
            </a:r>
            <a:br/>
            <a:r>
              <a:t>Academic Session: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3840480"/>
            <a:ext cx="4572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14B8A6"/>
                </a:solidFill>
              </a:defRPr>
            </a:pPr>
            <a:r>
              <a:t>SUPERVISION &amp; INSTITUTION: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Supervisor: [Faculty Guide Name]</a:t>
            </a:r>
            <a:br/>
            <a:r>
              <a:t>Department of Computer Science &amp; Engineering</a:t>
            </a:r>
            <a:br/>
            <a:r>
              <a:t>[Your College Name Here]</a:t>
            </a:r>
            <a:br/>
            <a:r>
              <a:t>Affiliated to AKTU, Lucknow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CAREHMS • B.TECH CSE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The Problem: Critical Healthcare Delivery Bottlenecks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121E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1. OPD Overcrowding &amp; Queue Delays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Patients spend an average of 2-4 hours waiting in physical hospital lobbies with manual paper slips, causing high dissatisfaction and cross-infection risks.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4389120"/>
          </a:xfrm>
          <a:prstGeom prst="roundRect">
            <a:avLst/>
          </a:prstGeom>
          <a:solidFill>
            <a:srgbClr val="121E3E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92024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2. Disconnected Telemedicine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Remote consultations are conducted over isolated third-party tools (Zoom/WhatsApp) that cannot synchronize with active hospital Electronic Health Records (EHR).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74720" cy="4389120"/>
          </a:xfrm>
          <a:prstGeom prst="roundRect">
            <a:avLst/>
          </a:prstGeom>
          <a:solidFill>
            <a:srgbClr val="121E3E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92024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B8A6"/>
                </a:solidFill>
              </a:defRPr>
            </a:pPr>
            <a:r>
              <a:t>3. Fragmented Clinical Workflows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Prescriptions, diagnostic lab uploads, in-patient bed allocation, and pharmacy inventories operate in distinct, uncoordinated software silos.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CAREHMS • B.TECH CSE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CareHMS: Unified Next-Generation Hospital ERP Ecosystem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2057400"/>
          </a:xfrm>
          <a:prstGeom prst="roundRect">
            <a:avLst/>
          </a:prstGeom>
          <a:solidFill>
            <a:srgbClr val="121E3E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800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🩺 Real-Time Telemedicine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Browser-native encrypted WebRTC video + Socket.io signaling + live collaborative whiteboard.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57800" cy="2057400"/>
          </a:xfrm>
          <a:prstGeom prst="roundRect">
            <a:avLst/>
          </a:prstGeom>
          <a:solidFill>
            <a:srgbClr val="121E3E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00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🤖 Clinical AI Assistant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Dual-model Gemini 3.8/3.5 failover with database-backed RAG to synthesize patient history.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57800" cy="2057400"/>
          </a:xfrm>
          <a:prstGeom prst="roundRect">
            <a:avLst/>
          </a:prstGeom>
          <a:solidFill>
            <a:srgbClr val="121E3E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14800"/>
            <a:ext cx="4800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📢 Smart OPD Queue Board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Automated token distribution with real-time browser Web Speech Synthesis audio announcements.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931920"/>
            <a:ext cx="5257800" cy="2057400"/>
          </a:xfrm>
          <a:prstGeom prst="roundRect">
            <a:avLst/>
          </a:prstGeom>
          <a:solidFill>
            <a:srgbClr val="121E3E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14800"/>
            <a:ext cx="4800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💊 Pharmacy &amp; In-Patient ERP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Bed ward tracking, digital prescription auto-generator, and full checkout billing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CAREHMS • B.TECH CSE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System Architecture: 3-Tier Distributed MERN Framework</a:t>
            </a:r>
          </a:p>
        </p:txBody>
      </p:sp>
      <p:pic>
        <p:nvPicPr>
          <p:cNvPr id="5" name="Picture 4" descr="diagra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7498079" cy="48737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554480"/>
            <a:ext cx="3017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Architectural Pillars:</a:t>
            </a:r>
          </a:p>
          <a:p>
            <a:pPr>
              <a:spcBef>
                <a:spcPts val="1200"/>
              </a:spcBef>
              <a:defRPr b="1" sz="1300">
                <a:solidFill>
                  <a:srgbClr val="14B8A6"/>
                </a:solidFill>
              </a:defRPr>
            </a:pPr>
            <a:r>
              <a:t>Client Tier: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React 18 Single Page Application bundled with Vite. GSAP animations and Lucide vector icons.</a:t>
            </a:r>
          </a:p>
          <a:p>
            <a:pPr>
              <a:spcBef>
                <a:spcPts val="1200"/>
              </a:spcBef>
              <a:defRPr b="1" sz="1300">
                <a:solidFill>
                  <a:srgbClr val="14B8A6"/>
                </a:solidFill>
              </a:defRPr>
            </a:pPr>
            <a:r>
              <a:t>Gateway Tier: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Node.js &amp; Express REST API with Socket.io WebSocket server and WebRTC peer room manager.</a:t>
            </a:r>
          </a:p>
          <a:p>
            <a:pPr>
              <a:spcBef>
                <a:spcPts val="1200"/>
              </a:spcBef>
              <a:defRPr b="1" sz="1300">
                <a:solidFill>
                  <a:srgbClr val="14B8A6"/>
                </a:solidFill>
              </a:defRPr>
            </a:pPr>
            <a:r>
              <a:t>Persistence Tier: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MongoDB Atlas Cloud NoSQL cluster with optimized indexes on PID and Doctor slots.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CAREHMS • B.TECH CSE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Clinical AI Assistant: Retrieval-Augmented Generation (RAG)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051560"/>
          </a:xfrm>
          <a:prstGeom prst="roundRect">
            <a:avLst/>
          </a:prstGeom>
          <a:solidFill>
            <a:srgbClr val="121E3E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55648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Step 1: Clinical Intent Detection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</a:defRPr>
            </a:pPr>
            <a:r>
              <a:t>Doctors or patients query medical symptoms or Patient IDs (e.g., 'PID-1001') in the chat interface.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10728655" cy="1051560"/>
          </a:xfrm>
          <a:prstGeom prst="roundRect">
            <a:avLst/>
          </a:prstGeom>
          <a:solidFill>
            <a:srgbClr val="121E3E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944368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B8A6"/>
                </a:solidFill>
              </a:defRPr>
            </a:pPr>
            <a:r>
              <a:t>Step 2: Database Retrieval (R)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</a:defRPr>
            </a:pPr>
            <a:r>
              <a:t>Express controller intercepts query and extracts medical history, allergies, and past prescriptions directly from MongoDB.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10728655" cy="1051560"/>
          </a:xfrm>
          <a:prstGeom prst="roundRect">
            <a:avLst/>
          </a:prstGeom>
          <a:solidFill>
            <a:srgbClr val="121E3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33088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Step 3: Context Augmentation (A)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</a:defRPr>
            </a:pPr>
            <a:r>
              <a:t>The retrieved records are structured and augmented into a role-specific system prompt with strict clinical safety bounds.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12080"/>
            <a:ext cx="10728655" cy="1051560"/>
          </a:xfrm>
          <a:prstGeom prst="roundRect">
            <a:avLst/>
          </a:prstGeom>
          <a:solidFill>
            <a:srgbClr val="121E3E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21808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Step 4: Gemini LLM Generation (G)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</a:defRPr>
            </a:pPr>
            <a:r>
              <a:t>Google Gemini 3.8 Flash (with Gemini 3.5 failover) generates contextual medical notes and diagnostic summaries.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CAREHMS • B.TECH CSE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Native Telemedicine: WebRTC Peer Protocol &amp; Sockets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121E3E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Full-Mesh Peer Streaming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Direct peer-to-peer audio/video streaming via RTCPeerConnection APIs without intermediary media servers.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4389120"/>
          </a:xfrm>
          <a:prstGeom prst="roundRect">
            <a:avLst/>
          </a:prstGeom>
          <a:solidFill>
            <a:srgbClr val="121E3E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92024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B8A6"/>
                </a:solidFill>
              </a:defRPr>
            </a:pPr>
            <a:r>
              <a:t>3D Incoming Call Modal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Socket.io relays 'start-call' notifications to patients, triggering a floating 3D GSAP modal with accept/reject buttons.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74720" cy="4389120"/>
          </a:xfrm>
          <a:prstGeom prst="roundRect">
            <a:avLst/>
          </a:prstGeom>
          <a:solidFill>
            <a:srgbClr val="121E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92024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Interactive Canvas Whiteboard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Live synchronized digital drawing canvas allowing physicians to illustrate radiological notes to patients in real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CAREHMS • B.TECH CSE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Database Design: Entity-Relationship (ER) Schema</a:t>
            </a:r>
          </a:p>
        </p:txBody>
      </p:sp>
      <p:pic>
        <p:nvPicPr>
          <p:cNvPr id="5" name="Picture 4" descr="diagram_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7772400" cy="52993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0" y="1554480"/>
            <a:ext cx="2743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Key Relational Mappings:</a:t>
            </a:r>
          </a:p>
          <a:p>
            <a:pPr>
              <a:spcBef>
                <a:spcPts val="1200"/>
              </a:spcBef>
              <a:defRPr b="1" sz="1200">
                <a:solidFill>
                  <a:srgbClr val="14B8A6"/>
                </a:solidFill>
              </a:defRPr>
            </a:pPr>
            <a:r>
              <a:t>User 1:1 Profile: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Binds core auth credentials with Doctor or Patient entities.</a:t>
            </a:r>
          </a:p>
          <a:p>
            <a:pPr>
              <a:spcBef>
                <a:spcPts val="1200"/>
              </a:spcBef>
              <a:defRPr b="1" sz="1200">
                <a:solidFill>
                  <a:srgbClr val="14B8A6"/>
                </a:solidFill>
              </a:defRPr>
            </a:pPr>
            <a:r>
              <a:t>Doctor 1:N Appts: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Doctors manage appointment queues and issue digital prescriptions.</a:t>
            </a:r>
          </a:p>
          <a:p>
            <a:pPr>
              <a:spcBef>
                <a:spcPts val="1200"/>
              </a:spcBef>
              <a:defRPr b="1" sz="1200">
                <a:solidFill>
                  <a:srgbClr val="14B8A6"/>
                </a:solidFill>
              </a:defRPr>
            </a:pPr>
            <a:r>
              <a:t>Patient 1:N Bills: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Automated invoice calculation per consultation and pharmacy order.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CAREHMS • B.TECH CSE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System Interactions: UML Use Case Diagram</a:t>
            </a:r>
          </a:p>
        </p:txBody>
      </p:sp>
      <p:pic>
        <p:nvPicPr>
          <p:cNvPr id="5" name="Picture 4" descr="diagram_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7498079" cy="48737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554480"/>
            <a:ext cx="3017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Role Responsibilities:</a:t>
            </a:r>
          </a:p>
          <a:p>
            <a:pPr>
              <a:spcBef>
                <a:spcPts val="800"/>
              </a:spcBef>
              <a:defRPr b="1" sz="1200">
                <a:solidFill>
                  <a:srgbClr val="14B8A6"/>
                </a:solidFill>
              </a:defRPr>
            </a:pPr>
            <a:r>
              <a:t>Patient: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Bookings, WebRTC calls, prescription reviews, symptom check.</a:t>
            </a:r>
          </a:p>
          <a:p>
            <a:pPr>
              <a:spcBef>
                <a:spcPts val="800"/>
              </a:spcBef>
              <a:defRPr b="1" sz="1200">
                <a:solidFill>
                  <a:srgbClr val="14B8A6"/>
                </a:solidFill>
              </a:defRPr>
            </a:pPr>
            <a:r>
              <a:t>Doctor: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Consultations, prescription generation, queue advancement, AI triage.</a:t>
            </a:r>
          </a:p>
          <a:p>
            <a:pPr>
              <a:spcBef>
                <a:spcPts val="800"/>
              </a:spcBef>
              <a:defRPr b="1" sz="1200">
                <a:solidFill>
                  <a:srgbClr val="14B8A6"/>
                </a:solidFill>
              </a:defRPr>
            </a:pPr>
            <a:r>
              <a:t>Receptionist: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OPD token assignment, bed admissions, waiting room board.</a:t>
            </a:r>
          </a:p>
          <a:p>
            <a:pPr>
              <a:spcBef>
                <a:spcPts val="800"/>
              </a:spcBef>
              <a:defRPr b="1" sz="1200">
                <a:solidFill>
                  <a:srgbClr val="14B8A6"/>
                </a:solidFill>
              </a:defRPr>
            </a:pPr>
            <a:r>
              <a:t>Admin: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Superuser audit, department metrics, doctor registration.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CAREHMS • B.TECH CSE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Clinical Flow: Telemedicine &amp; AI RAG Sequence Flow</a:t>
            </a:r>
          </a:p>
        </p:txBody>
      </p:sp>
      <p:pic>
        <p:nvPicPr>
          <p:cNvPr id="5" name="Picture 4" descr="diagram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7498079" cy="48737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554480"/>
            <a:ext cx="3017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Protocol Milestones:</a:t>
            </a:r>
          </a:p>
          <a:p>
            <a:pPr>
              <a:spcBef>
                <a:spcPts val="1000"/>
              </a:spcBef>
              <a:defRPr b="1" sz="1200">
                <a:solidFill>
                  <a:srgbClr val="14B8A6"/>
                </a:solidFill>
              </a:defRPr>
            </a:pPr>
            <a:r>
              <a:t>1. Signaling: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Socket.io relays room offers &amp; ICE candidates across peers.</a:t>
            </a:r>
          </a:p>
          <a:p>
            <a:pPr>
              <a:spcBef>
                <a:spcPts val="1000"/>
              </a:spcBef>
              <a:defRPr b="1" sz="1200">
                <a:solidFill>
                  <a:srgbClr val="14B8A6"/>
                </a:solidFill>
              </a:defRPr>
            </a:pPr>
            <a:r>
              <a:t>2. P2P Channel: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WebRTC negotiates direct audio/video without cloud lag.</a:t>
            </a:r>
          </a:p>
          <a:p>
            <a:pPr>
              <a:spcBef>
                <a:spcPts val="1000"/>
              </a:spcBef>
              <a:defRPr b="1" sz="1200">
                <a:solidFill>
                  <a:srgbClr val="14B8A6"/>
                </a:solidFill>
              </a:defRPr>
            </a:pPr>
            <a:r>
              <a:t>3. AI Retrieval: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Simultaneous MongoDB search on PID query during live call.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CAREHMS • B.TECH CSE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Smart OPD Queue Management &amp; Audio Announcer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121E3E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Real-time Token Display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Full-screen TV dashboard displaying active patient tokens, ongoing consultations, and estimated waiting times for hospital waiting lounges.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4389120"/>
          </a:xfrm>
          <a:prstGeom prst="roundRect">
            <a:avLst/>
          </a:prstGeom>
          <a:solidFill>
            <a:srgbClr val="121E3E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92024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B8A6"/>
                </a:solidFill>
              </a:defRPr>
            </a:pPr>
            <a:r>
              <a:t>Browser Web Speech TTS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When a doctor or receptionist clicks 'Call Next Token', the browser automatically speaks the announcement (e.g., 'Token 104, Dr. Sharma').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74720" cy="4389120"/>
          </a:xfrm>
          <a:prstGeom prst="roundRect">
            <a:avLst/>
          </a:prstGeom>
          <a:solidFill>
            <a:srgbClr val="121E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92024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Dynamic Slot Rebalancing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Patients booking appointments are assigned specific 15-minute time slots to prevent lobby overcrowding and peak-hour surges.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CAREHMS • B.TECH CSE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Security Architecture: Zero-Trust RBAC &amp; Encryption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2057400"/>
          </a:xfrm>
          <a:prstGeom prst="roundRect">
            <a:avLst/>
          </a:prstGeom>
          <a:solidFill>
            <a:srgbClr val="121E3E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800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JWT Authentication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Stateless bearer token verification on all protected endpoints with automatic expiration.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57800" cy="2057400"/>
          </a:xfrm>
          <a:prstGeom prst="roundRect">
            <a:avLst/>
          </a:prstGeom>
          <a:solidFill>
            <a:srgbClr val="121E3E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00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Bcrypt Password Hashing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Cryptographic salt rounds prevent credential exposure in database storage.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57800" cy="2057400"/>
          </a:xfrm>
          <a:prstGeom prst="roundRect">
            <a:avLst/>
          </a:prstGeom>
          <a:solidFill>
            <a:srgbClr val="121E3E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14800"/>
            <a:ext cx="4800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Admin Superuser Bypass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Custom middleware ensures administrators can audit all medical records without 403 blocks.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931920"/>
            <a:ext cx="5257800" cy="2057400"/>
          </a:xfrm>
          <a:prstGeom prst="roundRect">
            <a:avLst/>
          </a:prstGeom>
          <a:solidFill>
            <a:srgbClr val="121E3E"/>
          </a:solidFill>
          <a:ln w="1524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14800"/>
            <a:ext cx="48006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CORS &amp; Environment Isolation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Strict origin filters and separated .env credentials protect backend services.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CAREHMS • B.TECH CSE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Verification &amp; Performance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1645920"/>
          </a:xfrm>
          <a:prstGeom prst="roundRect">
            <a:avLst/>
          </a:prstGeom>
          <a:solidFill>
            <a:srgbClr val="121E3E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4B8A6"/>
                </a:solidFill>
              </a:defRPr>
            </a:pPr>
            <a:r>
              <a:t>100%</a:t>
            </a:r>
          </a:p>
          <a:p>
            <a:pPr algn="ctr"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Test Cases Passed</a:t>
            </a:r>
            <a:br/>
            <a:r>
              <a:t>(TC-01 to TC-05)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60320" cy="1645920"/>
          </a:xfrm>
          <a:prstGeom prst="roundRect">
            <a:avLst/>
          </a:prstGeom>
          <a:solidFill>
            <a:srgbClr val="121E3E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7373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EA5E9"/>
                </a:solidFill>
              </a:defRPr>
            </a:pPr>
            <a:r>
              <a:t>&lt; 65 ms</a:t>
            </a:r>
          </a:p>
          <a:p>
            <a:pPr algn="ctr"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Average API Latency</a:t>
            </a:r>
            <a:br/>
            <a:r>
              <a:t>on Local REST calls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1645920"/>
          </a:xfrm>
          <a:prstGeom prst="roundRect">
            <a:avLst/>
          </a:prstGeom>
          <a:solidFill>
            <a:srgbClr val="121E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7373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724 ms</a:t>
            </a:r>
          </a:p>
          <a:p>
            <a:pPr algn="ctr"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Vite Production</a:t>
            </a:r>
            <a:br/>
            <a:r>
              <a:t>Build Compilation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1645920"/>
            <a:ext cx="2560320" cy="1645920"/>
          </a:xfrm>
          <a:prstGeom prst="roundRect">
            <a:avLst/>
          </a:prstGeom>
          <a:solidFill>
            <a:srgbClr val="121E3E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17373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4B8A6"/>
                </a:solidFill>
              </a:defRPr>
            </a:pPr>
            <a:r>
              <a:t>60%+</a:t>
            </a:r>
          </a:p>
          <a:p>
            <a:pPr algn="ctr">
              <a:spcBef>
                <a:spcPts val="400"/>
              </a:spcBef>
              <a:defRPr sz="1100">
                <a:solidFill>
                  <a:srgbClr val="FFFFFF"/>
                </a:solidFill>
              </a:defRPr>
            </a:pPr>
            <a:r>
              <a:t>OPD Queue Time</a:t>
            </a:r>
            <a:br/>
            <a:r>
              <a:t>Reduction Observed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66160"/>
            <a:ext cx="10728655" cy="2468880"/>
          </a:xfrm>
          <a:prstGeom prst="roundRect">
            <a:avLst/>
          </a:prstGeom>
          <a:solidFill>
            <a:srgbClr val="121E3E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10332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Key Test Executions Summary: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</a:defRPr>
            </a:pPr>
            <a:r>
              <a:t>• TC-01: Authentication Guard — Issues signed JWT token, mounts dashboard seamlessly (PASS)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</a:defRPr>
            </a:pPr>
            <a:r>
              <a:t>• TC-02: RBAC Security — Unauthorized patient route access redirected with 403 Forbidden (PASS)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</a:defRPr>
            </a:pPr>
            <a:r>
              <a:t>• TC-03: Telemedicine Signaling — Doctor call trigger pops up 3D modal on patient in &lt;150ms (PASS)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</a:defRPr>
            </a:pPr>
            <a:r>
              <a:t>• TC-04: AI Clinical RAG — Doctor PID query extracts MongoDB history and outputs summary (PASS)</a:t>
            </a:r>
          </a:p>
          <a:p>
            <a:pPr>
              <a:spcBef>
                <a:spcPts val="300"/>
              </a:spcBef>
              <a:defRPr sz="1150">
                <a:solidFill>
                  <a:srgbClr val="94A3B8"/>
                </a:solidFill>
              </a:defRPr>
            </a:pPr>
            <a:r>
              <a:t>• TC-05: Waiting Room TTS — Receptionist advances token, audio speech synthesizer announces token (PASS)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CAREHMS • B.TECH CSE MINI-PROJECT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Future Scope &amp; Technological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74720" cy="4389120"/>
          </a:xfrm>
          <a:prstGeom prst="roundRect">
            <a:avLst/>
          </a:prstGeom>
          <a:solidFill>
            <a:srgbClr val="121E3E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A5E9"/>
                </a:solidFill>
              </a:defRPr>
            </a:pPr>
            <a:r>
              <a:t>Phase 1: Multimodal OCR Scanner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Integrate Gemini Vision API to photograph handwritten doctor prescriptions or blood test sheets and parse them directly into database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4389120"/>
          </a:xfrm>
          <a:prstGeom prst="roundRect">
            <a:avLst/>
          </a:prstGeom>
          <a:solidFill>
            <a:srgbClr val="121E3E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92024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4B8A6"/>
                </a:solidFill>
              </a:defRPr>
            </a:pPr>
            <a:r>
              <a:t>Phase 2: Payment Gateway Integration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Deploy Razorpay and UPI sandbox environments for automated digital payment receipts and insurance co-pay billing.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74720" cy="4389120"/>
          </a:xfrm>
          <a:prstGeom prst="roundRect">
            <a:avLst/>
          </a:prstGeom>
          <a:solidFill>
            <a:srgbClr val="121E3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920240"/>
            <a:ext cx="3108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Phase 3: Vector Knowledge Base RAG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</a:defRPr>
            </a:pPr>
            <a:r>
              <a:t>Implement LangChain and ChromaDB to perform semantic vector search across full hospital clinical manuals and insurance policies.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21E3E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463040"/>
            <a:ext cx="8869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EA5E9"/>
                </a:solidFill>
              </a:defRPr>
            </a:pPr>
            <a:r>
              <a:t>Thank You!</a:t>
            </a:r>
          </a:p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CareHMS: Smart Healthcare Management &amp; Telemedicine System</a:t>
            </a:r>
          </a:p>
          <a:p>
            <a:pPr algn="ctr">
              <a:spcBef>
                <a:spcPts val="1400"/>
              </a:spcBef>
              <a:defRPr sz="1400">
                <a:solidFill>
                  <a:srgbClr val="14B8A6"/>
                </a:solidFill>
              </a:defRPr>
            </a:pPr>
            <a:r>
              <a:t>Ready for Questions &amp; Live System Demonstration</a:t>
            </a:r>
          </a:p>
          <a:p>
            <a:pPr algn="ctr">
              <a:spcBef>
                <a:spcPts val="2000"/>
              </a:spcBef>
              <a:defRPr sz="1200">
                <a:solidFill>
                  <a:srgbClr val="94A3B8"/>
                </a:solidFill>
              </a:defRPr>
            </a:pPr>
            <a:r>
              <a:t>GitHub Repository: https://github.com/Sandeep405812/hospital-management</a:t>
            </a:r>
            <a:br/>
            <a:r>
              <a:t>Student: Sandeep | B.Tech CSE | AKTU Lucknow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